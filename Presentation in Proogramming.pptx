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Garet Bold" charset="1" panose="00000000000000000000"/>
      <p:regular r:id="rId15"/>
    </p:embeddedFont>
    <p:embeddedFont>
      <p:font typeface="Canva Sans" charset="1" panose="020B0503030501040103"/>
      <p:regular r:id="rId16"/>
    </p:embeddedFont>
    <p:embeddedFont>
      <p:font typeface="Canva Sans Bold" charset="1" panose="020B08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1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0115462" y="3800048"/>
            <a:ext cx="8172538" cy="6486952"/>
          </a:xfrm>
          <a:custGeom>
            <a:avLst/>
            <a:gdLst/>
            <a:ahLst/>
            <a:cxnLst/>
            <a:rect r="r" b="b" t="t" l="l"/>
            <a:pathLst>
              <a:path h="6486952" w="8172538">
                <a:moveTo>
                  <a:pt x="8172538" y="0"/>
                </a:moveTo>
                <a:lnTo>
                  <a:pt x="0" y="0"/>
                </a:lnTo>
                <a:lnTo>
                  <a:pt x="0" y="6486952"/>
                </a:lnTo>
                <a:lnTo>
                  <a:pt x="8172538" y="6486952"/>
                </a:lnTo>
                <a:lnTo>
                  <a:pt x="81725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178356" y="2058190"/>
            <a:ext cx="5598234" cy="559823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0010" y="0"/>
                  </a:moveTo>
                  <a:lnTo>
                    <a:pt x="742790" y="0"/>
                  </a:lnTo>
                  <a:cubicBezTo>
                    <a:pt x="781455" y="0"/>
                    <a:pt x="812800" y="31345"/>
                    <a:pt x="812800" y="70010"/>
                  </a:cubicBezTo>
                  <a:lnTo>
                    <a:pt x="812800" y="742790"/>
                  </a:lnTo>
                  <a:cubicBezTo>
                    <a:pt x="812800" y="781455"/>
                    <a:pt x="781455" y="812800"/>
                    <a:pt x="742790" y="812800"/>
                  </a:cubicBezTo>
                  <a:lnTo>
                    <a:pt x="70010" y="812800"/>
                  </a:lnTo>
                  <a:cubicBezTo>
                    <a:pt x="31345" y="812800"/>
                    <a:pt x="0" y="781455"/>
                    <a:pt x="0" y="742790"/>
                  </a:cubicBezTo>
                  <a:lnTo>
                    <a:pt x="0" y="70010"/>
                  </a:lnTo>
                  <a:cubicBezTo>
                    <a:pt x="0" y="31345"/>
                    <a:pt x="31345" y="0"/>
                    <a:pt x="70010" y="0"/>
                  </a:cubicBezTo>
                  <a:close/>
                </a:path>
              </a:pathLst>
            </a:custGeom>
            <a:solidFill>
              <a:srgbClr val="8F3F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382864" y="2234122"/>
            <a:ext cx="5246370" cy="524637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1649" y="0"/>
                  </a:moveTo>
                  <a:lnTo>
                    <a:pt x="761152" y="0"/>
                  </a:lnTo>
                  <a:cubicBezTo>
                    <a:pt x="789676" y="0"/>
                    <a:pt x="812800" y="23124"/>
                    <a:pt x="812800" y="51649"/>
                  </a:cubicBezTo>
                  <a:lnTo>
                    <a:pt x="812800" y="761152"/>
                  </a:lnTo>
                  <a:cubicBezTo>
                    <a:pt x="812800" y="789676"/>
                    <a:pt x="789676" y="812800"/>
                    <a:pt x="761152" y="812800"/>
                  </a:cubicBezTo>
                  <a:lnTo>
                    <a:pt x="51649" y="812800"/>
                  </a:lnTo>
                  <a:cubicBezTo>
                    <a:pt x="23124" y="812800"/>
                    <a:pt x="0" y="789676"/>
                    <a:pt x="0" y="761152"/>
                  </a:cubicBezTo>
                  <a:lnTo>
                    <a:pt x="0" y="51649"/>
                  </a:lnTo>
                  <a:cubicBezTo>
                    <a:pt x="0" y="23124"/>
                    <a:pt x="23124" y="0"/>
                    <a:pt x="51649" y="0"/>
                  </a:cubicBezTo>
                  <a:close/>
                </a:path>
              </a:pathLst>
            </a:custGeom>
            <a:blipFill>
              <a:blip r:embed="rId4"/>
              <a:stretch>
                <a:fillRect l="-24906" t="0" r="-2490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725938" y="1336907"/>
            <a:ext cx="3256701" cy="32567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0347" y="0"/>
                  </a:moveTo>
                  <a:lnTo>
                    <a:pt x="692453" y="0"/>
                  </a:lnTo>
                  <a:cubicBezTo>
                    <a:pt x="724371" y="0"/>
                    <a:pt x="754982" y="12679"/>
                    <a:pt x="777551" y="35249"/>
                  </a:cubicBezTo>
                  <a:cubicBezTo>
                    <a:pt x="800121" y="57818"/>
                    <a:pt x="812800" y="88429"/>
                    <a:pt x="812800" y="120347"/>
                  </a:cubicBezTo>
                  <a:lnTo>
                    <a:pt x="812800" y="692453"/>
                  </a:lnTo>
                  <a:cubicBezTo>
                    <a:pt x="812800" y="724371"/>
                    <a:pt x="800121" y="754982"/>
                    <a:pt x="777551" y="777551"/>
                  </a:cubicBezTo>
                  <a:cubicBezTo>
                    <a:pt x="754982" y="800121"/>
                    <a:pt x="724371" y="812800"/>
                    <a:pt x="692453" y="812800"/>
                  </a:cubicBezTo>
                  <a:lnTo>
                    <a:pt x="120347" y="812800"/>
                  </a:lnTo>
                  <a:cubicBezTo>
                    <a:pt x="88429" y="812800"/>
                    <a:pt x="57818" y="800121"/>
                    <a:pt x="35249" y="777551"/>
                  </a:cubicBezTo>
                  <a:cubicBezTo>
                    <a:pt x="12679" y="754982"/>
                    <a:pt x="0" y="724371"/>
                    <a:pt x="0" y="692453"/>
                  </a:cubicBezTo>
                  <a:lnTo>
                    <a:pt x="0" y="120347"/>
                  </a:lnTo>
                  <a:cubicBezTo>
                    <a:pt x="0" y="88429"/>
                    <a:pt x="12679" y="57818"/>
                    <a:pt x="35249" y="35249"/>
                  </a:cubicBezTo>
                  <a:cubicBezTo>
                    <a:pt x="57818" y="12679"/>
                    <a:pt x="88429" y="0"/>
                    <a:pt x="120347" y="0"/>
                  </a:cubicBezTo>
                  <a:close/>
                </a:path>
              </a:pathLst>
            </a:custGeom>
            <a:solidFill>
              <a:srgbClr val="8F3F0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885873" y="1496841"/>
            <a:ext cx="2936831" cy="293683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92265" y="0"/>
                  </a:moveTo>
                  <a:lnTo>
                    <a:pt x="720535" y="0"/>
                  </a:lnTo>
                  <a:cubicBezTo>
                    <a:pt x="771491" y="0"/>
                    <a:pt x="812800" y="41309"/>
                    <a:pt x="812800" y="92265"/>
                  </a:cubicBezTo>
                  <a:lnTo>
                    <a:pt x="812800" y="720535"/>
                  </a:lnTo>
                  <a:cubicBezTo>
                    <a:pt x="812800" y="771491"/>
                    <a:pt x="771491" y="812800"/>
                    <a:pt x="720535" y="812800"/>
                  </a:cubicBezTo>
                  <a:lnTo>
                    <a:pt x="92265" y="812800"/>
                  </a:lnTo>
                  <a:cubicBezTo>
                    <a:pt x="41309" y="812800"/>
                    <a:pt x="0" y="771491"/>
                    <a:pt x="0" y="720535"/>
                  </a:cubicBezTo>
                  <a:lnTo>
                    <a:pt x="0" y="92265"/>
                  </a:lnTo>
                  <a:cubicBezTo>
                    <a:pt x="0" y="41309"/>
                    <a:pt x="41309" y="0"/>
                    <a:pt x="92265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6666" r="0" b="-16666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3640477">
            <a:off x="-6383027" y="1639420"/>
            <a:ext cx="17758199" cy="7502839"/>
          </a:xfrm>
          <a:custGeom>
            <a:avLst/>
            <a:gdLst/>
            <a:ahLst/>
            <a:cxnLst/>
            <a:rect r="r" b="b" t="t" l="l"/>
            <a:pathLst>
              <a:path h="7502839" w="17758199">
                <a:moveTo>
                  <a:pt x="0" y="0"/>
                </a:moveTo>
                <a:lnTo>
                  <a:pt x="17758200" y="0"/>
                </a:lnTo>
                <a:lnTo>
                  <a:pt x="17758200" y="7502839"/>
                </a:lnTo>
                <a:lnTo>
                  <a:pt x="0" y="75028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435536" y="1690783"/>
            <a:ext cx="4233118" cy="817125"/>
            <a:chOff x="0" y="0"/>
            <a:chExt cx="1114895" cy="2152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14895" cy="215210"/>
            </a:xfrm>
            <a:custGeom>
              <a:avLst/>
              <a:gdLst/>
              <a:ahLst/>
              <a:cxnLst/>
              <a:rect r="r" b="b" t="t" l="l"/>
              <a:pathLst>
                <a:path h="215210" w="1114895">
                  <a:moveTo>
                    <a:pt x="92588" y="0"/>
                  </a:moveTo>
                  <a:lnTo>
                    <a:pt x="1022308" y="0"/>
                  </a:lnTo>
                  <a:cubicBezTo>
                    <a:pt x="1046863" y="0"/>
                    <a:pt x="1070413" y="9755"/>
                    <a:pt x="1087777" y="27118"/>
                  </a:cubicBezTo>
                  <a:cubicBezTo>
                    <a:pt x="1105141" y="44482"/>
                    <a:pt x="1114895" y="68032"/>
                    <a:pt x="1114895" y="92588"/>
                  </a:cubicBezTo>
                  <a:lnTo>
                    <a:pt x="1114895" y="122622"/>
                  </a:lnTo>
                  <a:cubicBezTo>
                    <a:pt x="1114895" y="147178"/>
                    <a:pt x="1105141" y="170728"/>
                    <a:pt x="1087777" y="188091"/>
                  </a:cubicBezTo>
                  <a:cubicBezTo>
                    <a:pt x="1070413" y="205455"/>
                    <a:pt x="1046863" y="215210"/>
                    <a:pt x="1022308" y="215210"/>
                  </a:cubicBezTo>
                  <a:lnTo>
                    <a:pt x="92588" y="215210"/>
                  </a:lnTo>
                  <a:cubicBezTo>
                    <a:pt x="68032" y="215210"/>
                    <a:pt x="44482" y="205455"/>
                    <a:pt x="27118" y="188091"/>
                  </a:cubicBezTo>
                  <a:cubicBezTo>
                    <a:pt x="9755" y="170728"/>
                    <a:pt x="0" y="147178"/>
                    <a:pt x="0" y="122622"/>
                  </a:cubicBezTo>
                  <a:lnTo>
                    <a:pt x="0" y="92588"/>
                  </a:lnTo>
                  <a:cubicBezTo>
                    <a:pt x="0" y="68032"/>
                    <a:pt x="9755" y="44482"/>
                    <a:pt x="27118" y="27118"/>
                  </a:cubicBezTo>
                  <a:cubicBezTo>
                    <a:pt x="44482" y="9755"/>
                    <a:pt x="68032" y="0"/>
                    <a:pt x="92588" y="0"/>
                  </a:cubicBezTo>
                  <a:close/>
                </a:path>
              </a:pathLst>
            </a:custGeom>
            <a:ln w="66675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14895" cy="253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35536" y="3086136"/>
            <a:ext cx="8026893" cy="688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20"/>
              </a:lnSpc>
              <a:spcBef>
                <a:spcPct val="0"/>
              </a:spcBef>
            </a:pPr>
            <a:r>
              <a:rPr lang="en-US" b="true" sz="4014">
                <a:solidFill>
                  <a:srgbClr val="FFDE59"/>
                </a:solidFill>
                <a:latin typeface="Garet Bold"/>
                <a:ea typeface="Garet Bold"/>
                <a:cs typeface="Garet Bold"/>
                <a:sym typeface="Garet Bold"/>
              </a:rPr>
              <a:t>Code Changes in Coffee Shop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4586" y="3928733"/>
            <a:ext cx="8466236" cy="1285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23"/>
              </a:lnSpc>
              <a:spcBef>
                <a:spcPct val="0"/>
              </a:spcBef>
            </a:pPr>
            <a:r>
              <a:rPr lang="en-US" b="true" sz="7516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Ordering System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5536" y="7931372"/>
            <a:ext cx="226394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Presented By: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49749" y="7931372"/>
            <a:ext cx="226394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Date: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35536" y="8206962"/>
            <a:ext cx="2531342" cy="78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7"/>
              </a:lnSpc>
              <a:spcBef>
                <a:spcPct val="0"/>
              </a:spcBef>
            </a:pPr>
            <a:r>
              <a:rPr lang="en-US" b="true" sz="229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[Group / Individual Name]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49749" y="8206962"/>
            <a:ext cx="2531342" cy="389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7"/>
              </a:lnSpc>
              <a:spcBef>
                <a:spcPct val="0"/>
              </a:spcBef>
            </a:pPr>
            <a:r>
              <a:rPr lang="en-US" b="true" sz="229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July 19, 2026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72520" y="1879386"/>
            <a:ext cx="3559150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Aldenaire &amp; Partners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1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9634491" y="0"/>
            <a:ext cx="8653509" cy="7229286"/>
          </a:xfrm>
          <a:custGeom>
            <a:avLst/>
            <a:gdLst/>
            <a:ahLst/>
            <a:cxnLst/>
            <a:rect r="r" b="b" t="t" l="l"/>
            <a:pathLst>
              <a:path h="7229286" w="8653509">
                <a:moveTo>
                  <a:pt x="8653509" y="7229286"/>
                </a:moveTo>
                <a:lnTo>
                  <a:pt x="0" y="7229286"/>
                </a:lnTo>
                <a:lnTo>
                  <a:pt x="0" y="0"/>
                </a:lnTo>
                <a:lnTo>
                  <a:pt x="8653509" y="0"/>
                </a:lnTo>
                <a:lnTo>
                  <a:pt x="8653509" y="722928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33465" y="2121091"/>
            <a:ext cx="9317716" cy="6585403"/>
          </a:xfrm>
          <a:custGeom>
            <a:avLst/>
            <a:gdLst/>
            <a:ahLst/>
            <a:cxnLst/>
            <a:rect r="r" b="b" t="t" l="l"/>
            <a:pathLst>
              <a:path h="6585403" w="9317716">
                <a:moveTo>
                  <a:pt x="0" y="0"/>
                </a:moveTo>
                <a:lnTo>
                  <a:pt x="9317716" y="0"/>
                </a:lnTo>
                <a:lnTo>
                  <a:pt x="9317716" y="6585404"/>
                </a:lnTo>
                <a:lnTo>
                  <a:pt x="0" y="6585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6" r="-21183" b="-20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19637" y="5849875"/>
            <a:ext cx="7026055" cy="116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78"/>
              </a:lnSpc>
              <a:spcBef>
                <a:spcPct val="0"/>
              </a:spcBef>
            </a:pPr>
            <a:r>
              <a:rPr lang="en-US" sz="16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Demonstrated order processing flow with sample details — Customer: Ariel, Coffee Type: Arabica Maduro, Price: PHP 300.0, VAT: 12%. The order is passed through TaxService for computation and ReceiptService for formatted printing.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9637" y="3875793"/>
            <a:ext cx="7026055" cy="116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78"/>
              </a:lnSpc>
              <a:spcBef>
                <a:spcPct val="0"/>
              </a:spcBef>
            </a:pPr>
            <a:r>
              <a:rPr lang="en-US" sz="16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Initialized TaxService, ReceiptService, and StorageService with concrete class implementations. Each service is wired in Main.java to enable modular, interface-driven architecture for the Coffee Shop Ordering System.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9637" y="7797121"/>
            <a:ext cx="7026055" cy="116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78"/>
              </a:lnSpc>
              <a:spcBef>
                <a:spcPct val="0"/>
              </a:spcBef>
            </a:pPr>
            <a:r>
              <a:rPr lang="en-US" sz="16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Console output confirms successful order completion with log messages from TaxComputation, Receipt printing, and StorageService saving the transaction to orders_log.txt database file.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9637" y="5366168"/>
            <a:ext cx="4438007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  <a:spcBef>
                <a:spcPct val="0"/>
              </a:spcBef>
            </a:pPr>
            <a:r>
              <a:rPr lang="en-US" b="true" sz="249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Order Processing Flow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9637" y="3405160"/>
            <a:ext cx="5360183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  <a:spcBef>
                <a:spcPct val="0"/>
              </a:spcBef>
            </a:pPr>
            <a:r>
              <a:rPr lang="en-US" b="true" sz="249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Service Initialization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19637" y="7327176"/>
            <a:ext cx="5932568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  <a:spcBef>
                <a:spcPct val="0"/>
              </a:spcBef>
            </a:pPr>
            <a:r>
              <a:rPr lang="en-US" b="true" sz="249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Output &amp; Logs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9637" y="1425984"/>
            <a:ext cx="10310712" cy="94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  <a:spcBef>
                <a:spcPct val="0"/>
              </a:spcBef>
            </a:pPr>
            <a:r>
              <a:rPr lang="en-US" b="true" sz="548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Main.java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9637" y="2261567"/>
            <a:ext cx="7496486" cy="94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  <a:spcBef>
                <a:spcPct val="0"/>
              </a:spcBef>
            </a:pPr>
            <a:r>
              <a:rPr lang="en-US" b="true" sz="548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Changes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1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1593511" y="3504909"/>
            <a:ext cx="6694489" cy="6782091"/>
          </a:xfrm>
          <a:custGeom>
            <a:avLst/>
            <a:gdLst/>
            <a:ahLst/>
            <a:cxnLst/>
            <a:rect r="r" b="b" t="t" l="l"/>
            <a:pathLst>
              <a:path h="6782091" w="6694489">
                <a:moveTo>
                  <a:pt x="6694489" y="0"/>
                </a:moveTo>
                <a:lnTo>
                  <a:pt x="0" y="0"/>
                </a:lnTo>
                <a:lnTo>
                  <a:pt x="0" y="6782091"/>
                </a:lnTo>
                <a:lnTo>
                  <a:pt x="6694489" y="6782091"/>
                </a:lnTo>
                <a:lnTo>
                  <a:pt x="669448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88665" y="6611616"/>
            <a:ext cx="8443341" cy="661105"/>
            <a:chOff x="0" y="0"/>
            <a:chExt cx="2223761" cy="1741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3761" cy="174118"/>
            </a:xfrm>
            <a:custGeom>
              <a:avLst/>
              <a:gdLst/>
              <a:ahLst/>
              <a:cxnLst/>
              <a:rect r="r" b="b" t="t" l="l"/>
              <a:pathLst>
                <a:path h="174118" w="2223761">
                  <a:moveTo>
                    <a:pt x="46419" y="0"/>
                  </a:moveTo>
                  <a:lnTo>
                    <a:pt x="2177341" y="0"/>
                  </a:lnTo>
                  <a:cubicBezTo>
                    <a:pt x="2202978" y="0"/>
                    <a:pt x="2223761" y="20783"/>
                    <a:pt x="2223761" y="46419"/>
                  </a:cubicBezTo>
                  <a:lnTo>
                    <a:pt x="2223761" y="127699"/>
                  </a:lnTo>
                  <a:cubicBezTo>
                    <a:pt x="2223761" y="153335"/>
                    <a:pt x="2202978" y="174118"/>
                    <a:pt x="2177341" y="174118"/>
                  </a:cubicBezTo>
                  <a:lnTo>
                    <a:pt x="46419" y="174118"/>
                  </a:lnTo>
                  <a:cubicBezTo>
                    <a:pt x="20783" y="174118"/>
                    <a:pt x="0" y="153335"/>
                    <a:pt x="0" y="127699"/>
                  </a:cubicBezTo>
                  <a:lnTo>
                    <a:pt x="0" y="46419"/>
                  </a:lnTo>
                  <a:cubicBezTo>
                    <a:pt x="0" y="20783"/>
                    <a:pt x="20783" y="0"/>
                    <a:pt x="46419" y="0"/>
                  </a:cubicBezTo>
                  <a:close/>
                </a:path>
              </a:pathLst>
            </a:custGeom>
            <a:solidFill>
              <a:srgbClr val="8F3F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223761" cy="221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88665" y="7398604"/>
            <a:ext cx="8443341" cy="658321"/>
            <a:chOff x="0" y="0"/>
            <a:chExt cx="2223761" cy="1733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3761" cy="173385"/>
            </a:xfrm>
            <a:custGeom>
              <a:avLst/>
              <a:gdLst/>
              <a:ahLst/>
              <a:cxnLst/>
              <a:rect r="r" b="b" t="t" l="l"/>
              <a:pathLst>
                <a:path h="173385" w="2223761">
                  <a:moveTo>
                    <a:pt x="46419" y="0"/>
                  </a:moveTo>
                  <a:lnTo>
                    <a:pt x="2177341" y="0"/>
                  </a:lnTo>
                  <a:cubicBezTo>
                    <a:pt x="2202978" y="0"/>
                    <a:pt x="2223761" y="20783"/>
                    <a:pt x="2223761" y="46419"/>
                  </a:cubicBezTo>
                  <a:lnTo>
                    <a:pt x="2223761" y="126966"/>
                  </a:lnTo>
                  <a:cubicBezTo>
                    <a:pt x="2223761" y="152602"/>
                    <a:pt x="2202978" y="173385"/>
                    <a:pt x="2177341" y="173385"/>
                  </a:cubicBezTo>
                  <a:lnTo>
                    <a:pt x="46419" y="173385"/>
                  </a:lnTo>
                  <a:cubicBezTo>
                    <a:pt x="20783" y="173385"/>
                    <a:pt x="0" y="152602"/>
                    <a:pt x="0" y="126966"/>
                  </a:cubicBezTo>
                  <a:lnTo>
                    <a:pt x="0" y="46419"/>
                  </a:lnTo>
                  <a:cubicBezTo>
                    <a:pt x="0" y="20783"/>
                    <a:pt x="20783" y="0"/>
                    <a:pt x="46419" y="0"/>
                  </a:cubicBezTo>
                  <a:close/>
                </a:path>
              </a:pathLst>
            </a:custGeom>
            <a:solidFill>
              <a:srgbClr val="8F3F0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223761" cy="221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88665" y="6714788"/>
            <a:ext cx="8236651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Implements printReceipt() from ReceiptService interface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8665" y="7506311"/>
            <a:ext cx="8236651" cy="39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59"/>
              </a:lnSpc>
              <a:spcBef>
                <a:spcPct val="0"/>
              </a:spcBef>
            </a:pPr>
            <a:r>
              <a:rPr lang="en-US" b="true" sz="232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Calculates tax as: finalPrice - basePrice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88665" y="8185593"/>
            <a:ext cx="8443341" cy="669862"/>
            <a:chOff x="0" y="0"/>
            <a:chExt cx="2223761" cy="1764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23761" cy="176424"/>
            </a:xfrm>
            <a:custGeom>
              <a:avLst/>
              <a:gdLst/>
              <a:ahLst/>
              <a:cxnLst/>
              <a:rect r="r" b="b" t="t" l="l"/>
              <a:pathLst>
                <a:path h="176424" w="2223761">
                  <a:moveTo>
                    <a:pt x="46419" y="0"/>
                  </a:moveTo>
                  <a:lnTo>
                    <a:pt x="2177341" y="0"/>
                  </a:lnTo>
                  <a:cubicBezTo>
                    <a:pt x="2202978" y="0"/>
                    <a:pt x="2223761" y="20783"/>
                    <a:pt x="2223761" y="46419"/>
                  </a:cubicBezTo>
                  <a:lnTo>
                    <a:pt x="2223761" y="130005"/>
                  </a:lnTo>
                  <a:cubicBezTo>
                    <a:pt x="2223761" y="155642"/>
                    <a:pt x="2202978" y="176424"/>
                    <a:pt x="2177341" y="176424"/>
                  </a:cubicBezTo>
                  <a:lnTo>
                    <a:pt x="46419" y="176424"/>
                  </a:lnTo>
                  <a:cubicBezTo>
                    <a:pt x="20783" y="176424"/>
                    <a:pt x="0" y="155642"/>
                    <a:pt x="0" y="130005"/>
                  </a:cubicBezTo>
                  <a:lnTo>
                    <a:pt x="0" y="46419"/>
                  </a:lnTo>
                  <a:cubicBezTo>
                    <a:pt x="0" y="20783"/>
                    <a:pt x="20783" y="0"/>
                    <a:pt x="46419" y="0"/>
                  </a:cubicBezTo>
                  <a:close/>
                </a:path>
              </a:pathLst>
            </a:custGeom>
            <a:solidFill>
              <a:srgbClr val="8F3F0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23761" cy="224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88665" y="8304576"/>
            <a:ext cx="8236651" cy="39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59"/>
              </a:lnSpc>
              <a:spcBef>
                <a:spcPct val="0"/>
              </a:spcBef>
            </a:pPr>
            <a:r>
              <a:rPr lang="en-US" b="true" sz="232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Prints customer, coffee, price, tax, and total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8665" y="1425984"/>
            <a:ext cx="10104846" cy="94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  <a:spcBef>
                <a:spcPct val="0"/>
              </a:spcBef>
            </a:pPr>
            <a:r>
              <a:rPr lang="en-US" b="true" sz="548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Receipt.java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8665" y="2261567"/>
            <a:ext cx="5848015" cy="94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  <a:spcBef>
                <a:spcPct val="0"/>
              </a:spcBef>
            </a:pPr>
            <a:r>
              <a:rPr lang="en-US" b="true" sz="548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Changes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8665" y="3395654"/>
            <a:ext cx="7655335" cy="232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Receipt class implements the ReceiptService interface, providing a concrete implementation of the printReceipt() method. It calculates the tax amount as the difference between the final price and the base price, then prints a neatly formatted receipt to the console showing all relevant order details.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725316" y="1948599"/>
            <a:ext cx="8050662" cy="4529666"/>
          </a:xfrm>
          <a:custGeom>
            <a:avLst/>
            <a:gdLst/>
            <a:ahLst/>
            <a:cxnLst/>
            <a:rect r="r" b="b" t="t" l="l"/>
            <a:pathLst>
              <a:path h="4529666" w="8050662">
                <a:moveTo>
                  <a:pt x="0" y="0"/>
                </a:moveTo>
                <a:lnTo>
                  <a:pt x="8050662" y="0"/>
                </a:lnTo>
                <a:lnTo>
                  <a:pt x="8050662" y="4529667"/>
                </a:lnTo>
                <a:lnTo>
                  <a:pt x="0" y="45296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" t="0" r="-34778" b="-40746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1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6157866" cy="6867509"/>
          </a:xfrm>
          <a:custGeom>
            <a:avLst/>
            <a:gdLst/>
            <a:ahLst/>
            <a:cxnLst/>
            <a:rect r="r" b="b" t="t" l="l"/>
            <a:pathLst>
              <a:path h="6867509" w="6157866">
                <a:moveTo>
                  <a:pt x="0" y="6867509"/>
                </a:moveTo>
                <a:lnTo>
                  <a:pt x="6157866" y="6867509"/>
                </a:lnTo>
                <a:lnTo>
                  <a:pt x="6157866" y="0"/>
                </a:lnTo>
                <a:lnTo>
                  <a:pt x="0" y="0"/>
                </a:lnTo>
                <a:lnTo>
                  <a:pt x="0" y="68675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09178" y="3395654"/>
            <a:ext cx="9366878" cy="271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7"/>
              </a:lnSpc>
              <a:spcBef>
                <a:spcPct val="0"/>
              </a:spcBef>
            </a:pPr>
            <a:r>
              <a:rPr lang="en-US" sz="21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ReceiptService interface defines the contract for all receipt printing implementations in the Coffee Shop Ordering System.</a:t>
            </a:r>
          </a:p>
          <a:p>
            <a:pPr algn="just" marL="0" indent="0" lvl="0">
              <a:lnSpc>
                <a:spcPts val="3077"/>
              </a:lnSpc>
              <a:spcBef>
                <a:spcPct val="0"/>
              </a:spcBef>
            </a:pPr>
            <a:r>
              <a:rPr lang="en-US" sz="21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Method Signature:</a:t>
            </a:r>
          </a:p>
          <a:p>
            <a:pPr algn="just" marL="0" indent="0" lvl="0">
              <a:lnSpc>
                <a:spcPts val="3077"/>
              </a:lnSpc>
              <a:spcBef>
                <a:spcPct val="0"/>
              </a:spcBef>
            </a:pPr>
            <a:r>
              <a:rPr lang="en-US" sz="21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void printReceipt(String customerName, String coffeeType, double price, double finalPrice)</a:t>
            </a:r>
          </a:p>
          <a:p>
            <a:pPr algn="just" marL="0" indent="0" lvl="0">
              <a:lnSpc>
                <a:spcPts val="3077"/>
              </a:lnSpc>
              <a:spcBef>
                <a:spcPct val="0"/>
              </a:spcBef>
            </a:pPr>
            <a:r>
              <a:rPr lang="en-US" sz="21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interface ensures any class implementing it must provide a concrete receipt printing method with consistent parameters.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09178" y="6330625"/>
            <a:ext cx="9366878" cy="1544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7"/>
              </a:lnSpc>
              <a:spcBef>
                <a:spcPct val="0"/>
              </a:spcBef>
            </a:pPr>
            <a:r>
              <a:rPr lang="en-US" sz="21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By defining this interface, the system follows the Dependency Inversion Principle — high-level modules depend on abstractions rather than concrete implementations. The Receipt.java class implements this contract to deliver formatted receipt output.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09178" y="1425984"/>
            <a:ext cx="7973473" cy="94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  <a:spcBef>
                <a:spcPct val="0"/>
              </a:spcBef>
            </a:pPr>
            <a:r>
              <a:rPr lang="en-US" b="true" sz="548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ReceiptService.java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09178" y="2261567"/>
            <a:ext cx="7973473" cy="94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  <a:spcBef>
                <a:spcPct val="0"/>
              </a:spcBef>
            </a:pPr>
            <a:r>
              <a:rPr lang="en-US" b="true" sz="548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Changes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04550" y="3202023"/>
            <a:ext cx="6524756" cy="3831032"/>
          </a:xfrm>
          <a:custGeom>
            <a:avLst/>
            <a:gdLst/>
            <a:ahLst/>
            <a:cxnLst/>
            <a:rect r="r" b="b" t="t" l="l"/>
            <a:pathLst>
              <a:path h="3831032" w="6524756">
                <a:moveTo>
                  <a:pt x="0" y="0"/>
                </a:moveTo>
                <a:lnTo>
                  <a:pt x="6524756" y="0"/>
                </a:lnTo>
                <a:lnTo>
                  <a:pt x="6524756" y="3831033"/>
                </a:lnTo>
                <a:lnTo>
                  <a:pt x="0" y="38310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4" t="0" r="-61128" b="-62418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1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1593511" y="3504909"/>
            <a:ext cx="6694489" cy="6782091"/>
          </a:xfrm>
          <a:custGeom>
            <a:avLst/>
            <a:gdLst/>
            <a:ahLst/>
            <a:cxnLst/>
            <a:rect r="r" b="b" t="t" l="l"/>
            <a:pathLst>
              <a:path h="6782091" w="6694489">
                <a:moveTo>
                  <a:pt x="6694489" y="0"/>
                </a:moveTo>
                <a:lnTo>
                  <a:pt x="0" y="0"/>
                </a:lnTo>
                <a:lnTo>
                  <a:pt x="0" y="6782091"/>
                </a:lnTo>
                <a:lnTo>
                  <a:pt x="6694489" y="6782091"/>
                </a:lnTo>
                <a:lnTo>
                  <a:pt x="669448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88665" y="6611616"/>
            <a:ext cx="9059731" cy="669862"/>
            <a:chOff x="0" y="0"/>
            <a:chExt cx="2386102" cy="1764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86102" cy="176424"/>
            </a:xfrm>
            <a:custGeom>
              <a:avLst/>
              <a:gdLst/>
              <a:ahLst/>
              <a:cxnLst/>
              <a:rect r="r" b="b" t="t" l="l"/>
              <a:pathLst>
                <a:path h="176424" w="2386102">
                  <a:moveTo>
                    <a:pt x="43261" y="0"/>
                  </a:moveTo>
                  <a:lnTo>
                    <a:pt x="2342841" y="0"/>
                  </a:lnTo>
                  <a:cubicBezTo>
                    <a:pt x="2354314" y="0"/>
                    <a:pt x="2365318" y="4558"/>
                    <a:pt x="2373431" y="12671"/>
                  </a:cubicBezTo>
                  <a:cubicBezTo>
                    <a:pt x="2381544" y="20784"/>
                    <a:pt x="2386102" y="31788"/>
                    <a:pt x="2386102" y="43261"/>
                  </a:cubicBezTo>
                  <a:lnTo>
                    <a:pt x="2386102" y="133163"/>
                  </a:lnTo>
                  <a:cubicBezTo>
                    <a:pt x="2386102" y="144637"/>
                    <a:pt x="2381544" y="155640"/>
                    <a:pt x="2373431" y="163754"/>
                  </a:cubicBezTo>
                  <a:cubicBezTo>
                    <a:pt x="2365318" y="171867"/>
                    <a:pt x="2354314" y="176424"/>
                    <a:pt x="2342841" y="176424"/>
                  </a:cubicBezTo>
                  <a:lnTo>
                    <a:pt x="43261" y="176424"/>
                  </a:lnTo>
                  <a:cubicBezTo>
                    <a:pt x="31788" y="176424"/>
                    <a:pt x="20784" y="171867"/>
                    <a:pt x="12671" y="163754"/>
                  </a:cubicBezTo>
                  <a:cubicBezTo>
                    <a:pt x="4558" y="155640"/>
                    <a:pt x="0" y="144637"/>
                    <a:pt x="0" y="133163"/>
                  </a:cubicBezTo>
                  <a:lnTo>
                    <a:pt x="0" y="43261"/>
                  </a:lnTo>
                  <a:cubicBezTo>
                    <a:pt x="0" y="31788"/>
                    <a:pt x="4558" y="20784"/>
                    <a:pt x="12671" y="12671"/>
                  </a:cubicBezTo>
                  <a:cubicBezTo>
                    <a:pt x="20784" y="4558"/>
                    <a:pt x="31788" y="0"/>
                    <a:pt x="43261" y="0"/>
                  </a:cubicBezTo>
                  <a:close/>
                </a:path>
              </a:pathLst>
            </a:custGeom>
            <a:solidFill>
              <a:srgbClr val="8F3F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386102" cy="224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88665" y="7398604"/>
            <a:ext cx="9059731" cy="669862"/>
            <a:chOff x="0" y="0"/>
            <a:chExt cx="2386102" cy="1764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86102" cy="176424"/>
            </a:xfrm>
            <a:custGeom>
              <a:avLst/>
              <a:gdLst/>
              <a:ahLst/>
              <a:cxnLst/>
              <a:rect r="r" b="b" t="t" l="l"/>
              <a:pathLst>
                <a:path h="176424" w="2386102">
                  <a:moveTo>
                    <a:pt x="43261" y="0"/>
                  </a:moveTo>
                  <a:lnTo>
                    <a:pt x="2342841" y="0"/>
                  </a:lnTo>
                  <a:cubicBezTo>
                    <a:pt x="2354314" y="0"/>
                    <a:pt x="2365318" y="4558"/>
                    <a:pt x="2373431" y="12671"/>
                  </a:cubicBezTo>
                  <a:cubicBezTo>
                    <a:pt x="2381544" y="20784"/>
                    <a:pt x="2386102" y="31788"/>
                    <a:pt x="2386102" y="43261"/>
                  </a:cubicBezTo>
                  <a:lnTo>
                    <a:pt x="2386102" y="133163"/>
                  </a:lnTo>
                  <a:cubicBezTo>
                    <a:pt x="2386102" y="144637"/>
                    <a:pt x="2381544" y="155640"/>
                    <a:pt x="2373431" y="163754"/>
                  </a:cubicBezTo>
                  <a:cubicBezTo>
                    <a:pt x="2365318" y="171867"/>
                    <a:pt x="2354314" y="176424"/>
                    <a:pt x="2342841" y="176424"/>
                  </a:cubicBezTo>
                  <a:lnTo>
                    <a:pt x="43261" y="176424"/>
                  </a:lnTo>
                  <a:cubicBezTo>
                    <a:pt x="31788" y="176424"/>
                    <a:pt x="20784" y="171867"/>
                    <a:pt x="12671" y="163754"/>
                  </a:cubicBezTo>
                  <a:cubicBezTo>
                    <a:pt x="4558" y="155640"/>
                    <a:pt x="0" y="144637"/>
                    <a:pt x="0" y="133163"/>
                  </a:cubicBezTo>
                  <a:lnTo>
                    <a:pt x="0" y="43261"/>
                  </a:lnTo>
                  <a:cubicBezTo>
                    <a:pt x="0" y="31788"/>
                    <a:pt x="4558" y="20784"/>
                    <a:pt x="12671" y="12671"/>
                  </a:cubicBezTo>
                  <a:cubicBezTo>
                    <a:pt x="20784" y="4558"/>
                    <a:pt x="31788" y="0"/>
                    <a:pt x="43261" y="0"/>
                  </a:cubicBezTo>
                  <a:close/>
                </a:path>
              </a:pathLst>
            </a:custGeom>
            <a:solidFill>
              <a:srgbClr val="8F3F0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86102" cy="224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900205" y="6711596"/>
            <a:ext cx="8236651" cy="38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2"/>
              </a:lnSpc>
              <a:spcBef>
                <a:spcPct val="0"/>
              </a:spcBef>
            </a:pPr>
            <a:r>
              <a:rPr lang="en-US" b="true" sz="222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Implements saveOrder(...) to write logs to orders_log.txt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00205" y="7498585"/>
            <a:ext cx="8236651" cy="38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2"/>
              </a:lnSpc>
              <a:spcBef>
                <a:spcPct val="0"/>
              </a:spcBef>
            </a:pPr>
            <a:r>
              <a:rPr lang="en-US" b="true" sz="222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Uses try-catch for IOException with success/error messages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88665" y="8185593"/>
            <a:ext cx="9059731" cy="669862"/>
            <a:chOff x="0" y="0"/>
            <a:chExt cx="2386102" cy="1764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86102" cy="176424"/>
            </a:xfrm>
            <a:custGeom>
              <a:avLst/>
              <a:gdLst/>
              <a:ahLst/>
              <a:cxnLst/>
              <a:rect r="r" b="b" t="t" l="l"/>
              <a:pathLst>
                <a:path h="176424" w="2386102">
                  <a:moveTo>
                    <a:pt x="43261" y="0"/>
                  </a:moveTo>
                  <a:lnTo>
                    <a:pt x="2342841" y="0"/>
                  </a:lnTo>
                  <a:cubicBezTo>
                    <a:pt x="2354314" y="0"/>
                    <a:pt x="2365318" y="4558"/>
                    <a:pt x="2373431" y="12671"/>
                  </a:cubicBezTo>
                  <a:cubicBezTo>
                    <a:pt x="2381544" y="20784"/>
                    <a:pt x="2386102" y="31788"/>
                    <a:pt x="2386102" y="43261"/>
                  </a:cubicBezTo>
                  <a:lnTo>
                    <a:pt x="2386102" y="133163"/>
                  </a:lnTo>
                  <a:cubicBezTo>
                    <a:pt x="2386102" y="144637"/>
                    <a:pt x="2381544" y="155640"/>
                    <a:pt x="2373431" y="163754"/>
                  </a:cubicBezTo>
                  <a:cubicBezTo>
                    <a:pt x="2365318" y="171867"/>
                    <a:pt x="2354314" y="176424"/>
                    <a:pt x="2342841" y="176424"/>
                  </a:cubicBezTo>
                  <a:lnTo>
                    <a:pt x="43261" y="176424"/>
                  </a:lnTo>
                  <a:cubicBezTo>
                    <a:pt x="31788" y="176424"/>
                    <a:pt x="20784" y="171867"/>
                    <a:pt x="12671" y="163754"/>
                  </a:cubicBezTo>
                  <a:cubicBezTo>
                    <a:pt x="4558" y="155640"/>
                    <a:pt x="0" y="144637"/>
                    <a:pt x="0" y="133163"/>
                  </a:cubicBezTo>
                  <a:lnTo>
                    <a:pt x="0" y="43261"/>
                  </a:lnTo>
                  <a:cubicBezTo>
                    <a:pt x="0" y="31788"/>
                    <a:pt x="4558" y="20784"/>
                    <a:pt x="12671" y="12671"/>
                  </a:cubicBezTo>
                  <a:cubicBezTo>
                    <a:pt x="20784" y="4558"/>
                    <a:pt x="31788" y="0"/>
                    <a:pt x="43261" y="0"/>
                  </a:cubicBezTo>
                  <a:close/>
                </a:path>
              </a:pathLst>
            </a:custGeom>
            <a:solidFill>
              <a:srgbClr val="8F3F0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386102" cy="224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900205" y="8285574"/>
            <a:ext cx="8236651" cy="38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2"/>
              </a:lnSpc>
              <a:spcBef>
                <a:spcPct val="0"/>
              </a:spcBef>
            </a:pPr>
            <a:r>
              <a:rPr lang="en-US" b="true" sz="222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Logs customer name, coffee type, and final price details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8665" y="1425984"/>
            <a:ext cx="10104846" cy="94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  <a:spcBef>
                <a:spcPct val="0"/>
              </a:spcBef>
            </a:pPr>
            <a:r>
              <a:rPr lang="en-US" b="true" sz="548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Storage.java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8665" y="2261567"/>
            <a:ext cx="5848015" cy="94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  <a:spcBef>
                <a:spcPct val="0"/>
              </a:spcBef>
            </a:pPr>
            <a:r>
              <a:rPr lang="en-US" b="true" sz="548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Changes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8665" y="3395654"/>
            <a:ext cx="7514372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Storage class implements the StorageService interface to handle persistent order logging. It writes transaction records to "orders_log.txt" using file I/O operations, with proper exception handling to ensure reliability and graceful error reporting.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445860" y="1567138"/>
            <a:ext cx="7813440" cy="4930178"/>
          </a:xfrm>
          <a:custGeom>
            <a:avLst/>
            <a:gdLst/>
            <a:ahLst/>
            <a:cxnLst/>
            <a:rect r="r" b="b" t="t" l="l"/>
            <a:pathLst>
              <a:path h="4930178" w="7813440">
                <a:moveTo>
                  <a:pt x="0" y="0"/>
                </a:moveTo>
                <a:lnTo>
                  <a:pt x="7813440" y="0"/>
                </a:lnTo>
                <a:lnTo>
                  <a:pt x="7813440" y="4930178"/>
                </a:lnTo>
                <a:lnTo>
                  <a:pt x="0" y="49301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0" t="0" r="-10572" b="-1912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1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6157866" cy="6867509"/>
          </a:xfrm>
          <a:custGeom>
            <a:avLst/>
            <a:gdLst/>
            <a:ahLst/>
            <a:cxnLst/>
            <a:rect r="r" b="b" t="t" l="l"/>
            <a:pathLst>
              <a:path h="6867509" w="6157866">
                <a:moveTo>
                  <a:pt x="0" y="6867509"/>
                </a:moveTo>
                <a:lnTo>
                  <a:pt x="6157866" y="6867509"/>
                </a:lnTo>
                <a:lnTo>
                  <a:pt x="6157866" y="0"/>
                </a:lnTo>
                <a:lnTo>
                  <a:pt x="0" y="0"/>
                </a:lnTo>
                <a:lnTo>
                  <a:pt x="0" y="68675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09178" y="3395654"/>
            <a:ext cx="9366878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StorageService.java interface defines the contract for all storage-related implementations in the Coffee Shop Ordering System. It declares the method signature: void saveOrder(String customerName, String coffeeType, double finalPrice), which any implementing class must fulfill.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09178" y="6330625"/>
            <a:ext cx="9366878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By defining this interface, the system ensures a consistent and interchangeable storage layer. The Storage.java class implements this contract, enabling order logs to be written to file. This design promotes loose coupling and follows solid object-oriented principles.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09178" y="1425984"/>
            <a:ext cx="7973473" cy="94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  <a:spcBef>
                <a:spcPct val="0"/>
              </a:spcBef>
            </a:pPr>
            <a:r>
              <a:rPr lang="en-US" b="true" sz="548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StorageService.java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09178" y="2261567"/>
            <a:ext cx="7973473" cy="94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  <a:spcBef>
                <a:spcPct val="0"/>
              </a:spcBef>
            </a:pPr>
            <a:r>
              <a:rPr lang="en-US" b="true" sz="548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Interface Changes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86366" y="3383804"/>
            <a:ext cx="6713811" cy="4491141"/>
          </a:xfrm>
          <a:custGeom>
            <a:avLst/>
            <a:gdLst/>
            <a:ahLst/>
            <a:cxnLst/>
            <a:rect r="r" b="b" t="t" l="l"/>
            <a:pathLst>
              <a:path h="4491141" w="6713811">
                <a:moveTo>
                  <a:pt x="0" y="0"/>
                </a:moveTo>
                <a:lnTo>
                  <a:pt x="6713811" y="0"/>
                </a:lnTo>
                <a:lnTo>
                  <a:pt x="6713811" y="4491141"/>
                </a:lnTo>
                <a:lnTo>
                  <a:pt x="0" y="44911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5" t="0" r="-68798" b="-47358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1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1593511" y="3504909"/>
            <a:ext cx="6694489" cy="6782091"/>
          </a:xfrm>
          <a:custGeom>
            <a:avLst/>
            <a:gdLst/>
            <a:ahLst/>
            <a:cxnLst/>
            <a:rect r="r" b="b" t="t" l="l"/>
            <a:pathLst>
              <a:path h="6782091" w="6694489">
                <a:moveTo>
                  <a:pt x="6694489" y="0"/>
                </a:moveTo>
                <a:lnTo>
                  <a:pt x="0" y="0"/>
                </a:lnTo>
                <a:lnTo>
                  <a:pt x="0" y="6782091"/>
                </a:lnTo>
                <a:lnTo>
                  <a:pt x="6694489" y="6782091"/>
                </a:lnTo>
                <a:lnTo>
                  <a:pt x="669448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88665" y="6611616"/>
            <a:ext cx="9059731" cy="669862"/>
            <a:chOff x="0" y="0"/>
            <a:chExt cx="2386102" cy="1764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86102" cy="176424"/>
            </a:xfrm>
            <a:custGeom>
              <a:avLst/>
              <a:gdLst/>
              <a:ahLst/>
              <a:cxnLst/>
              <a:rect r="r" b="b" t="t" l="l"/>
              <a:pathLst>
                <a:path h="176424" w="2386102">
                  <a:moveTo>
                    <a:pt x="43261" y="0"/>
                  </a:moveTo>
                  <a:lnTo>
                    <a:pt x="2342841" y="0"/>
                  </a:lnTo>
                  <a:cubicBezTo>
                    <a:pt x="2354314" y="0"/>
                    <a:pt x="2365318" y="4558"/>
                    <a:pt x="2373431" y="12671"/>
                  </a:cubicBezTo>
                  <a:cubicBezTo>
                    <a:pt x="2381544" y="20784"/>
                    <a:pt x="2386102" y="31788"/>
                    <a:pt x="2386102" y="43261"/>
                  </a:cubicBezTo>
                  <a:lnTo>
                    <a:pt x="2386102" y="133163"/>
                  </a:lnTo>
                  <a:cubicBezTo>
                    <a:pt x="2386102" y="144637"/>
                    <a:pt x="2381544" y="155640"/>
                    <a:pt x="2373431" y="163754"/>
                  </a:cubicBezTo>
                  <a:cubicBezTo>
                    <a:pt x="2365318" y="171867"/>
                    <a:pt x="2354314" y="176424"/>
                    <a:pt x="2342841" y="176424"/>
                  </a:cubicBezTo>
                  <a:lnTo>
                    <a:pt x="43261" y="176424"/>
                  </a:lnTo>
                  <a:cubicBezTo>
                    <a:pt x="31788" y="176424"/>
                    <a:pt x="20784" y="171867"/>
                    <a:pt x="12671" y="163754"/>
                  </a:cubicBezTo>
                  <a:cubicBezTo>
                    <a:pt x="4558" y="155640"/>
                    <a:pt x="0" y="144637"/>
                    <a:pt x="0" y="133163"/>
                  </a:cubicBezTo>
                  <a:lnTo>
                    <a:pt x="0" y="43261"/>
                  </a:lnTo>
                  <a:cubicBezTo>
                    <a:pt x="0" y="31788"/>
                    <a:pt x="4558" y="20784"/>
                    <a:pt x="12671" y="12671"/>
                  </a:cubicBezTo>
                  <a:cubicBezTo>
                    <a:pt x="20784" y="4558"/>
                    <a:pt x="31788" y="0"/>
                    <a:pt x="43261" y="0"/>
                  </a:cubicBezTo>
                  <a:close/>
                </a:path>
              </a:pathLst>
            </a:custGeom>
            <a:solidFill>
              <a:srgbClr val="8F3F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386102" cy="224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88665" y="7398604"/>
            <a:ext cx="9059731" cy="669862"/>
            <a:chOff x="0" y="0"/>
            <a:chExt cx="2386102" cy="1764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86102" cy="176424"/>
            </a:xfrm>
            <a:custGeom>
              <a:avLst/>
              <a:gdLst/>
              <a:ahLst/>
              <a:cxnLst/>
              <a:rect r="r" b="b" t="t" l="l"/>
              <a:pathLst>
                <a:path h="176424" w="2386102">
                  <a:moveTo>
                    <a:pt x="43261" y="0"/>
                  </a:moveTo>
                  <a:lnTo>
                    <a:pt x="2342841" y="0"/>
                  </a:lnTo>
                  <a:cubicBezTo>
                    <a:pt x="2354314" y="0"/>
                    <a:pt x="2365318" y="4558"/>
                    <a:pt x="2373431" y="12671"/>
                  </a:cubicBezTo>
                  <a:cubicBezTo>
                    <a:pt x="2381544" y="20784"/>
                    <a:pt x="2386102" y="31788"/>
                    <a:pt x="2386102" y="43261"/>
                  </a:cubicBezTo>
                  <a:lnTo>
                    <a:pt x="2386102" y="133163"/>
                  </a:lnTo>
                  <a:cubicBezTo>
                    <a:pt x="2386102" y="144637"/>
                    <a:pt x="2381544" y="155640"/>
                    <a:pt x="2373431" y="163754"/>
                  </a:cubicBezTo>
                  <a:cubicBezTo>
                    <a:pt x="2365318" y="171867"/>
                    <a:pt x="2354314" y="176424"/>
                    <a:pt x="2342841" y="176424"/>
                  </a:cubicBezTo>
                  <a:lnTo>
                    <a:pt x="43261" y="176424"/>
                  </a:lnTo>
                  <a:cubicBezTo>
                    <a:pt x="31788" y="176424"/>
                    <a:pt x="20784" y="171867"/>
                    <a:pt x="12671" y="163754"/>
                  </a:cubicBezTo>
                  <a:cubicBezTo>
                    <a:pt x="4558" y="155640"/>
                    <a:pt x="0" y="144637"/>
                    <a:pt x="0" y="133163"/>
                  </a:cubicBezTo>
                  <a:lnTo>
                    <a:pt x="0" y="43261"/>
                  </a:lnTo>
                  <a:cubicBezTo>
                    <a:pt x="0" y="31788"/>
                    <a:pt x="4558" y="20784"/>
                    <a:pt x="12671" y="12671"/>
                  </a:cubicBezTo>
                  <a:cubicBezTo>
                    <a:pt x="20784" y="4558"/>
                    <a:pt x="31788" y="0"/>
                    <a:pt x="43261" y="0"/>
                  </a:cubicBezTo>
                  <a:close/>
                </a:path>
              </a:pathLst>
            </a:custGeom>
            <a:solidFill>
              <a:srgbClr val="8F3F0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86102" cy="224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900205" y="6721121"/>
            <a:ext cx="8236651" cy="388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77"/>
              </a:lnSpc>
              <a:spcBef>
                <a:spcPct val="0"/>
              </a:spcBef>
            </a:pPr>
            <a:r>
              <a:rPr lang="en-US" b="true" sz="234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Implements computeTax(double price) from TaxService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00205" y="7508110"/>
            <a:ext cx="8236651" cy="388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77"/>
              </a:lnSpc>
              <a:spcBef>
                <a:spcPct val="0"/>
              </a:spcBef>
            </a:pPr>
            <a:r>
              <a:rPr lang="en-US" b="true" sz="234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Calculates 12% VAT and returns price including tax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88665" y="8185593"/>
            <a:ext cx="9059731" cy="669862"/>
            <a:chOff x="0" y="0"/>
            <a:chExt cx="2386102" cy="1764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86102" cy="176424"/>
            </a:xfrm>
            <a:custGeom>
              <a:avLst/>
              <a:gdLst/>
              <a:ahLst/>
              <a:cxnLst/>
              <a:rect r="r" b="b" t="t" l="l"/>
              <a:pathLst>
                <a:path h="176424" w="2386102">
                  <a:moveTo>
                    <a:pt x="43261" y="0"/>
                  </a:moveTo>
                  <a:lnTo>
                    <a:pt x="2342841" y="0"/>
                  </a:lnTo>
                  <a:cubicBezTo>
                    <a:pt x="2354314" y="0"/>
                    <a:pt x="2365318" y="4558"/>
                    <a:pt x="2373431" y="12671"/>
                  </a:cubicBezTo>
                  <a:cubicBezTo>
                    <a:pt x="2381544" y="20784"/>
                    <a:pt x="2386102" y="31788"/>
                    <a:pt x="2386102" y="43261"/>
                  </a:cubicBezTo>
                  <a:lnTo>
                    <a:pt x="2386102" y="133163"/>
                  </a:lnTo>
                  <a:cubicBezTo>
                    <a:pt x="2386102" y="144637"/>
                    <a:pt x="2381544" y="155640"/>
                    <a:pt x="2373431" y="163754"/>
                  </a:cubicBezTo>
                  <a:cubicBezTo>
                    <a:pt x="2365318" y="171867"/>
                    <a:pt x="2354314" y="176424"/>
                    <a:pt x="2342841" y="176424"/>
                  </a:cubicBezTo>
                  <a:lnTo>
                    <a:pt x="43261" y="176424"/>
                  </a:lnTo>
                  <a:cubicBezTo>
                    <a:pt x="31788" y="176424"/>
                    <a:pt x="20784" y="171867"/>
                    <a:pt x="12671" y="163754"/>
                  </a:cubicBezTo>
                  <a:cubicBezTo>
                    <a:pt x="4558" y="155640"/>
                    <a:pt x="0" y="144637"/>
                    <a:pt x="0" y="133163"/>
                  </a:cubicBezTo>
                  <a:lnTo>
                    <a:pt x="0" y="43261"/>
                  </a:lnTo>
                  <a:cubicBezTo>
                    <a:pt x="0" y="31788"/>
                    <a:pt x="4558" y="20784"/>
                    <a:pt x="12671" y="12671"/>
                  </a:cubicBezTo>
                  <a:cubicBezTo>
                    <a:pt x="20784" y="4558"/>
                    <a:pt x="31788" y="0"/>
                    <a:pt x="43261" y="0"/>
                  </a:cubicBezTo>
                  <a:close/>
                </a:path>
              </a:pathLst>
            </a:custGeom>
            <a:solidFill>
              <a:srgbClr val="8F3F0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386102" cy="224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900205" y="8295099"/>
            <a:ext cx="8236651" cy="388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77"/>
              </a:lnSpc>
              <a:spcBef>
                <a:spcPct val="0"/>
              </a:spcBef>
            </a:pPr>
            <a:r>
              <a:rPr lang="en-US" b="true" sz="234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Prints log message confirming tax calculation in progress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8665" y="1425984"/>
            <a:ext cx="10104846" cy="94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  <a:spcBef>
                <a:spcPct val="0"/>
              </a:spcBef>
            </a:pPr>
            <a:r>
              <a:rPr lang="en-US" b="true" sz="548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TaxComputation.java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8665" y="2261567"/>
            <a:ext cx="5848015" cy="94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  <a:spcBef>
                <a:spcPct val="0"/>
              </a:spcBef>
            </a:pPr>
            <a:r>
              <a:rPr lang="en-US" b="true" sz="548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Changes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8665" y="3395654"/>
            <a:ext cx="6676915" cy="271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TaxComputation class implements the TaxService interface, providing the core tax logic for the Coffee Shop Ordering System. It computes a 12% VAT on the base price and returns the final price including tax, while also printing a log message to confirm the tax calculation is in progress.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144000" y="2553751"/>
            <a:ext cx="8737686" cy="4057865"/>
          </a:xfrm>
          <a:custGeom>
            <a:avLst/>
            <a:gdLst/>
            <a:ahLst/>
            <a:cxnLst/>
            <a:rect r="r" b="b" t="t" l="l"/>
            <a:pathLst>
              <a:path h="4057865" w="8737686">
                <a:moveTo>
                  <a:pt x="0" y="0"/>
                </a:moveTo>
                <a:lnTo>
                  <a:pt x="8737686" y="0"/>
                </a:lnTo>
                <a:lnTo>
                  <a:pt x="8737686" y="4057865"/>
                </a:lnTo>
                <a:lnTo>
                  <a:pt x="0" y="40578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6" t="0" r="-30470" b="-64457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1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6157866" cy="6867509"/>
          </a:xfrm>
          <a:custGeom>
            <a:avLst/>
            <a:gdLst/>
            <a:ahLst/>
            <a:cxnLst/>
            <a:rect r="r" b="b" t="t" l="l"/>
            <a:pathLst>
              <a:path h="6867509" w="6157866">
                <a:moveTo>
                  <a:pt x="0" y="6867509"/>
                </a:moveTo>
                <a:lnTo>
                  <a:pt x="6157866" y="6867509"/>
                </a:lnTo>
                <a:lnTo>
                  <a:pt x="6157866" y="0"/>
                </a:lnTo>
                <a:lnTo>
                  <a:pt x="0" y="0"/>
                </a:lnTo>
                <a:lnTo>
                  <a:pt x="0" y="68675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09178" y="3395654"/>
            <a:ext cx="9366878" cy="2519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00"/>
              </a:lnSpc>
              <a:spcBef>
                <a:spcPct val="0"/>
              </a:spcBef>
            </a:pPr>
            <a:r>
              <a:rPr lang="en-US" sz="207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TaxService.java file defines the interface that serves as a contract for all tax computation implementations in the Coffee Shop Ordering System.</a:t>
            </a:r>
          </a:p>
          <a:p>
            <a:pPr algn="just" marL="0" indent="0" lvl="0">
              <a:lnSpc>
                <a:spcPts val="2900"/>
              </a:lnSpc>
              <a:spcBef>
                <a:spcPct val="0"/>
              </a:spcBef>
            </a:pPr>
            <a:r>
              <a:rPr lang="en-US" sz="207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Key detail:</a:t>
            </a:r>
          </a:p>
          <a:p>
            <a:pPr algn="just" marL="0" indent="0" lvl="0">
              <a:lnSpc>
                <a:spcPts val="2900"/>
              </a:lnSpc>
              <a:spcBef>
                <a:spcPct val="0"/>
              </a:spcBef>
            </a:pPr>
            <a:r>
              <a:rPr lang="en-US" sz="207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Declares method signature: double computeTax(double price)</a:t>
            </a:r>
          </a:p>
          <a:p>
            <a:pPr algn="just" marL="0" indent="0" lvl="0">
              <a:lnSpc>
                <a:spcPts val="2900"/>
              </a:lnSpc>
              <a:spcBef>
                <a:spcPct val="0"/>
              </a:spcBef>
            </a:pPr>
            <a:r>
              <a:rPr lang="en-US" sz="207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Serves as the contract for tax computation implementations</a:t>
            </a:r>
          </a:p>
          <a:p>
            <a:pPr algn="just" marL="0" indent="0" lvl="0">
              <a:lnSpc>
                <a:spcPts val="2900"/>
              </a:lnSpc>
              <a:spcBef>
                <a:spcPct val="0"/>
              </a:spcBef>
            </a:pPr>
            <a:r>
              <a:rPr lang="en-US" sz="207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Ensures any class implementing TaxService must provide a concrete computeTax() method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09178" y="6330625"/>
            <a:ext cx="9366878" cy="1433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00"/>
              </a:lnSpc>
              <a:spcBef>
                <a:spcPct val="0"/>
              </a:spcBef>
            </a:pPr>
            <a:r>
              <a:rPr lang="en-US" sz="207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By defining the interface, TaxService enforces a consistent structure for tax-related logic. The TaxComputation class implements this interface, applying the 12% VAT to the base price and returning the final computed amount.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09178" y="1425984"/>
            <a:ext cx="7973473" cy="94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  <a:spcBef>
                <a:spcPct val="0"/>
              </a:spcBef>
            </a:pPr>
            <a:r>
              <a:rPr lang="en-US" b="true" sz="548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TaxService.java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09178" y="2261567"/>
            <a:ext cx="7973473" cy="94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  <a:spcBef>
                <a:spcPct val="0"/>
              </a:spcBef>
            </a:pPr>
            <a:r>
              <a:rPr lang="en-US" b="true" sz="548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Changes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39593" y="3202023"/>
            <a:ext cx="6777034" cy="4284123"/>
          </a:xfrm>
          <a:custGeom>
            <a:avLst/>
            <a:gdLst/>
            <a:ahLst/>
            <a:cxnLst/>
            <a:rect r="r" b="b" t="t" l="l"/>
            <a:pathLst>
              <a:path h="4284123" w="6777034">
                <a:moveTo>
                  <a:pt x="0" y="0"/>
                </a:moveTo>
                <a:lnTo>
                  <a:pt x="6777034" y="0"/>
                </a:lnTo>
                <a:lnTo>
                  <a:pt x="6777034" y="4284123"/>
                </a:lnTo>
                <a:lnTo>
                  <a:pt x="0" y="4284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" t="0" r="-72308" b="-59141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1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0115462" y="3800048"/>
            <a:ext cx="8172538" cy="6486952"/>
          </a:xfrm>
          <a:custGeom>
            <a:avLst/>
            <a:gdLst/>
            <a:ahLst/>
            <a:cxnLst/>
            <a:rect r="r" b="b" t="t" l="l"/>
            <a:pathLst>
              <a:path h="6486952" w="8172538">
                <a:moveTo>
                  <a:pt x="8172538" y="0"/>
                </a:moveTo>
                <a:lnTo>
                  <a:pt x="0" y="0"/>
                </a:lnTo>
                <a:lnTo>
                  <a:pt x="0" y="6486952"/>
                </a:lnTo>
                <a:lnTo>
                  <a:pt x="8172538" y="6486952"/>
                </a:lnTo>
                <a:lnTo>
                  <a:pt x="81725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178356" y="2058190"/>
            <a:ext cx="5598234" cy="559823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0010" y="0"/>
                  </a:moveTo>
                  <a:lnTo>
                    <a:pt x="742790" y="0"/>
                  </a:lnTo>
                  <a:cubicBezTo>
                    <a:pt x="781455" y="0"/>
                    <a:pt x="812800" y="31345"/>
                    <a:pt x="812800" y="70010"/>
                  </a:cubicBezTo>
                  <a:lnTo>
                    <a:pt x="812800" y="742790"/>
                  </a:lnTo>
                  <a:cubicBezTo>
                    <a:pt x="812800" y="781455"/>
                    <a:pt x="781455" y="812800"/>
                    <a:pt x="742790" y="812800"/>
                  </a:cubicBezTo>
                  <a:lnTo>
                    <a:pt x="70010" y="812800"/>
                  </a:lnTo>
                  <a:cubicBezTo>
                    <a:pt x="31345" y="812800"/>
                    <a:pt x="0" y="781455"/>
                    <a:pt x="0" y="742790"/>
                  </a:cubicBezTo>
                  <a:lnTo>
                    <a:pt x="0" y="70010"/>
                  </a:lnTo>
                  <a:cubicBezTo>
                    <a:pt x="0" y="31345"/>
                    <a:pt x="31345" y="0"/>
                    <a:pt x="70010" y="0"/>
                  </a:cubicBezTo>
                  <a:close/>
                </a:path>
              </a:pathLst>
            </a:custGeom>
            <a:solidFill>
              <a:srgbClr val="8F3F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354289" y="2234122"/>
            <a:ext cx="5246370" cy="524637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1649" y="0"/>
                  </a:moveTo>
                  <a:lnTo>
                    <a:pt x="761152" y="0"/>
                  </a:lnTo>
                  <a:cubicBezTo>
                    <a:pt x="789676" y="0"/>
                    <a:pt x="812800" y="23124"/>
                    <a:pt x="812800" y="51649"/>
                  </a:cubicBezTo>
                  <a:lnTo>
                    <a:pt x="812800" y="761152"/>
                  </a:lnTo>
                  <a:cubicBezTo>
                    <a:pt x="812800" y="789676"/>
                    <a:pt x="789676" y="812800"/>
                    <a:pt x="761152" y="812800"/>
                  </a:cubicBezTo>
                  <a:lnTo>
                    <a:pt x="51649" y="812800"/>
                  </a:lnTo>
                  <a:cubicBezTo>
                    <a:pt x="23124" y="812800"/>
                    <a:pt x="0" y="789676"/>
                    <a:pt x="0" y="761152"/>
                  </a:cubicBezTo>
                  <a:lnTo>
                    <a:pt x="0" y="51649"/>
                  </a:lnTo>
                  <a:cubicBezTo>
                    <a:pt x="0" y="23124"/>
                    <a:pt x="23124" y="0"/>
                    <a:pt x="51649" y="0"/>
                  </a:cubicBezTo>
                  <a:close/>
                </a:path>
              </a:pathLst>
            </a:custGeom>
            <a:blipFill>
              <a:blip r:embed="rId4"/>
              <a:stretch>
                <a:fillRect l="-24906" t="0" r="-2490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725938" y="1336907"/>
            <a:ext cx="3256701" cy="32567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0347" y="0"/>
                  </a:moveTo>
                  <a:lnTo>
                    <a:pt x="692453" y="0"/>
                  </a:lnTo>
                  <a:cubicBezTo>
                    <a:pt x="724371" y="0"/>
                    <a:pt x="754982" y="12679"/>
                    <a:pt x="777551" y="35249"/>
                  </a:cubicBezTo>
                  <a:cubicBezTo>
                    <a:pt x="800121" y="57818"/>
                    <a:pt x="812800" y="88429"/>
                    <a:pt x="812800" y="120347"/>
                  </a:cubicBezTo>
                  <a:lnTo>
                    <a:pt x="812800" y="692453"/>
                  </a:lnTo>
                  <a:cubicBezTo>
                    <a:pt x="812800" y="724371"/>
                    <a:pt x="800121" y="754982"/>
                    <a:pt x="777551" y="777551"/>
                  </a:cubicBezTo>
                  <a:cubicBezTo>
                    <a:pt x="754982" y="800121"/>
                    <a:pt x="724371" y="812800"/>
                    <a:pt x="692453" y="812800"/>
                  </a:cubicBezTo>
                  <a:lnTo>
                    <a:pt x="120347" y="812800"/>
                  </a:lnTo>
                  <a:cubicBezTo>
                    <a:pt x="88429" y="812800"/>
                    <a:pt x="57818" y="800121"/>
                    <a:pt x="35249" y="777551"/>
                  </a:cubicBezTo>
                  <a:cubicBezTo>
                    <a:pt x="12679" y="754982"/>
                    <a:pt x="0" y="724371"/>
                    <a:pt x="0" y="692453"/>
                  </a:cubicBezTo>
                  <a:lnTo>
                    <a:pt x="0" y="120347"/>
                  </a:lnTo>
                  <a:cubicBezTo>
                    <a:pt x="0" y="88429"/>
                    <a:pt x="12679" y="57818"/>
                    <a:pt x="35249" y="35249"/>
                  </a:cubicBezTo>
                  <a:cubicBezTo>
                    <a:pt x="57818" y="12679"/>
                    <a:pt x="88429" y="0"/>
                    <a:pt x="120347" y="0"/>
                  </a:cubicBezTo>
                  <a:close/>
                </a:path>
              </a:pathLst>
            </a:custGeom>
            <a:solidFill>
              <a:srgbClr val="8F3F0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885873" y="1496841"/>
            <a:ext cx="2936831" cy="293683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92265" y="0"/>
                  </a:moveTo>
                  <a:lnTo>
                    <a:pt x="720535" y="0"/>
                  </a:lnTo>
                  <a:cubicBezTo>
                    <a:pt x="771491" y="0"/>
                    <a:pt x="812800" y="41309"/>
                    <a:pt x="812800" y="92265"/>
                  </a:cubicBezTo>
                  <a:lnTo>
                    <a:pt x="812800" y="720535"/>
                  </a:lnTo>
                  <a:cubicBezTo>
                    <a:pt x="812800" y="771491"/>
                    <a:pt x="771491" y="812800"/>
                    <a:pt x="720535" y="812800"/>
                  </a:cubicBezTo>
                  <a:lnTo>
                    <a:pt x="92265" y="812800"/>
                  </a:lnTo>
                  <a:cubicBezTo>
                    <a:pt x="41309" y="812800"/>
                    <a:pt x="0" y="771491"/>
                    <a:pt x="0" y="720535"/>
                  </a:cubicBezTo>
                  <a:lnTo>
                    <a:pt x="0" y="92265"/>
                  </a:lnTo>
                  <a:cubicBezTo>
                    <a:pt x="0" y="41309"/>
                    <a:pt x="41309" y="0"/>
                    <a:pt x="92265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6666" r="0" b="-16666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3640477">
            <a:off x="-6383027" y="1639420"/>
            <a:ext cx="17758199" cy="7502839"/>
          </a:xfrm>
          <a:custGeom>
            <a:avLst/>
            <a:gdLst/>
            <a:ahLst/>
            <a:cxnLst/>
            <a:rect r="r" b="b" t="t" l="l"/>
            <a:pathLst>
              <a:path h="7502839" w="17758199">
                <a:moveTo>
                  <a:pt x="0" y="0"/>
                </a:moveTo>
                <a:lnTo>
                  <a:pt x="17758200" y="0"/>
                </a:lnTo>
                <a:lnTo>
                  <a:pt x="17758200" y="7502839"/>
                </a:lnTo>
                <a:lnTo>
                  <a:pt x="0" y="75028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435536" y="1690783"/>
            <a:ext cx="4233118" cy="817125"/>
            <a:chOff x="0" y="0"/>
            <a:chExt cx="1114895" cy="2152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14895" cy="215210"/>
            </a:xfrm>
            <a:custGeom>
              <a:avLst/>
              <a:gdLst/>
              <a:ahLst/>
              <a:cxnLst/>
              <a:rect r="r" b="b" t="t" l="l"/>
              <a:pathLst>
                <a:path h="215210" w="1114895">
                  <a:moveTo>
                    <a:pt x="92588" y="0"/>
                  </a:moveTo>
                  <a:lnTo>
                    <a:pt x="1022308" y="0"/>
                  </a:lnTo>
                  <a:cubicBezTo>
                    <a:pt x="1046863" y="0"/>
                    <a:pt x="1070413" y="9755"/>
                    <a:pt x="1087777" y="27118"/>
                  </a:cubicBezTo>
                  <a:cubicBezTo>
                    <a:pt x="1105141" y="44482"/>
                    <a:pt x="1114895" y="68032"/>
                    <a:pt x="1114895" y="92588"/>
                  </a:cubicBezTo>
                  <a:lnTo>
                    <a:pt x="1114895" y="122622"/>
                  </a:lnTo>
                  <a:cubicBezTo>
                    <a:pt x="1114895" y="147178"/>
                    <a:pt x="1105141" y="170728"/>
                    <a:pt x="1087777" y="188091"/>
                  </a:cubicBezTo>
                  <a:cubicBezTo>
                    <a:pt x="1070413" y="205455"/>
                    <a:pt x="1046863" y="215210"/>
                    <a:pt x="1022308" y="215210"/>
                  </a:cubicBezTo>
                  <a:lnTo>
                    <a:pt x="92588" y="215210"/>
                  </a:lnTo>
                  <a:cubicBezTo>
                    <a:pt x="68032" y="215210"/>
                    <a:pt x="44482" y="205455"/>
                    <a:pt x="27118" y="188091"/>
                  </a:cubicBezTo>
                  <a:cubicBezTo>
                    <a:pt x="9755" y="170728"/>
                    <a:pt x="0" y="147178"/>
                    <a:pt x="0" y="122622"/>
                  </a:cubicBezTo>
                  <a:lnTo>
                    <a:pt x="0" y="92588"/>
                  </a:lnTo>
                  <a:cubicBezTo>
                    <a:pt x="0" y="68032"/>
                    <a:pt x="9755" y="44482"/>
                    <a:pt x="27118" y="27118"/>
                  </a:cubicBezTo>
                  <a:cubicBezTo>
                    <a:pt x="44482" y="9755"/>
                    <a:pt x="68032" y="0"/>
                    <a:pt x="92588" y="0"/>
                  </a:cubicBezTo>
                  <a:close/>
                </a:path>
              </a:pathLst>
            </a:custGeom>
            <a:ln w="66675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14895" cy="253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35536" y="3543857"/>
            <a:ext cx="9043747" cy="99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77"/>
              </a:lnSpc>
              <a:spcBef>
                <a:spcPct val="0"/>
              </a:spcBef>
            </a:pPr>
            <a:r>
              <a:rPr lang="en-US" b="true" sz="5769">
                <a:solidFill>
                  <a:srgbClr val="FFDE59"/>
                </a:solidFill>
                <a:latin typeface="Garet Bold"/>
                <a:ea typeface="Garet Bold"/>
                <a:cs typeface="Garet Bold"/>
                <a:sym typeface="Garet Bold"/>
              </a:rPr>
              <a:t>Thank You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5536" y="5324553"/>
            <a:ext cx="904250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 collaboration ensured robust code design and implementation for the Coffee Shop Ordering System.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5536" y="7950422"/>
            <a:ext cx="2263943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Group Members: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49749" y="7950422"/>
            <a:ext cx="2263943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Contribution: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35536" y="8226012"/>
            <a:ext cx="2531342" cy="109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125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Apito, Anthony Jr.</a:t>
            </a:r>
          </a:p>
          <a:p>
            <a:pPr algn="l">
              <a:lnSpc>
                <a:spcPts val="1756"/>
              </a:lnSpc>
            </a:pPr>
            <a:r>
              <a:rPr lang="en-US" sz="125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Taguibao, Jyvon-Rey</a:t>
            </a:r>
          </a:p>
          <a:p>
            <a:pPr algn="l">
              <a:lnSpc>
                <a:spcPts val="1756"/>
              </a:lnSpc>
            </a:pPr>
            <a:r>
              <a:rPr lang="en-US" sz="125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Basuyang, Jamaica Sheena</a:t>
            </a:r>
          </a:p>
          <a:p>
            <a:pPr algn="l">
              <a:lnSpc>
                <a:spcPts val="1756"/>
              </a:lnSpc>
            </a:pPr>
            <a:r>
              <a:rPr lang="en-US" sz="125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Morales, Bianca Pearl</a:t>
            </a:r>
          </a:p>
          <a:p>
            <a:pPr algn="l" marL="0" indent="0" lvl="0">
              <a:lnSpc>
                <a:spcPts val="1756"/>
              </a:lnSpc>
              <a:spcBef>
                <a:spcPct val="0"/>
              </a:spcBef>
            </a:pPr>
            <a:r>
              <a:rPr lang="en-US" b="true" sz="125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Pagalilauan, Niña Rashinie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49749" y="8226012"/>
            <a:ext cx="2531342" cy="109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125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20%</a:t>
            </a:r>
          </a:p>
          <a:p>
            <a:pPr algn="l">
              <a:lnSpc>
                <a:spcPts val="1756"/>
              </a:lnSpc>
            </a:pPr>
            <a:r>
              <a:rPr lang="en-US" sz="125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20%</a:t>
            </a:r>
          </a:p>
          <a:p>
            <a:pPr algn="l">
              <a:lnSpc>
                <a:spcPts val="1756"/>
              </a:lnSpc>
            </a:pPr>
            <a:r>
              <a:rPr lang="en-US" sz="125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20%</a:t>
            </a:r>
          </a:p>
          <a:p>
            <a:pPr algn="l">
              <a:lnSpc>
                <a:spcPts val="1756"/>
              </a:lnSpc>
            </a:pPr>
            <a:r>
              <a:rPr lang="en-US" sz="125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20%</a:t>
            </a:r>
          </a:p>
          <a:p>
            <a:pPr algn="l" marL="0" indent="0" lvl="0">
              <a:lnSpc>
                <a:spcPts val="1756"/>
              </a:lnSpc>
              <a:spcBef>
                <a:spcPct val="0"/>
              </a:spcBef>
            </a:pPr>
            <a:r>
              <a:rPr lang="en-US" b="true" sz="125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72520" y="1898436"/>
            <a:ext cx="355915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Coffee Shop Ordering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DAHPyvY9FNA</dc:identifier>
  <dcterms:modified xsi:type="dcterms:W3CDTF">2011-08-01T06:04:30Z</dcterms:modified>
  <cp:revision>1</cp:revision>
  <dc:title>Base Code Changes PowerPoint</dc:title>
</cp:coreProperties>
</file>